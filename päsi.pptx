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_rels/presentation.xml.rels" ContentType="application/vnd.openxmlformats-package.relationships+xml"/>
  <Override PartName="/ppt/media/image9.wmf" ContentType="image/x-wmf"/>
  <Override PartName="/ppt/media/image14.png" ContentType="image/png"/>
  <Override PartName="/ppt/media/image8.wmf" ContentType="image/x-wmf"/>
  <Override PartName="/ppt/media/image12.jpeg" ContentType="image/jpeg"/>
  <Override PartName="/ppt/media/image11.jpeg" ContentType="image/jpeg"/>
  <Override PartName="/ppt/media/image18.jpeg" ContentType="image/jpeg"/>
  <Override PartName="/ppt/media/image6.wmf" ContentType="image/x-wmf"/>
  <Override PartName="/ppt/media/image17.jpeg" ContentType="image/jpeg"/>
  <Override PartName="/ppt/media/image16.png" ContentType="image/png"/>
  <Override PartName="/ppt/media/image15.png" ContentType="image/png"/>
  <Override PartName="/ppt/media/image1.wmf" ContentType="image/x-wmf"/>
  <Override PartName="/ppt/media/image2.wmf" ContentType="image/x-wmf"/>
  <Override PartName="/ppt/media/image3.wmf" ContentType="image/x-wmf"/>
  <Override PartName="/ppt/media/image13.jpeg" ContentType="image/jpeg"/>
  <Override PartName="/ppt/media/image4.wmf" ContentType="image/x-wmf"/>
  <Override PartName="/ppt/media/image5.wmf" ContentType="image/x-wmf"/>
  <Override PartName="/ppt/media/image10.wmf" ContentType="image/x-wmf"/>
  <Override PartName="/ppt/media/image7.wmf" ContentType="image/x-wmf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0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9144000" cy="51435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5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5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94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95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3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3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7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7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7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wmf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wmf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5.wmf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6.wmf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7.wmf"/><Relationship Id="rId3" Type="http://schemas.openxmlformats.org/officeDocument/2006/relationships/image" Target="../media/image8.wmf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9.wmf"/><Relationship Id="rId3" Type="http://schemas.openxmlformats.org/officeDocument/2006/relationships/image" Target="../media/image10.wmf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fik 9" descr=""/>
          <p:cNvPicPr/>
          <p:nvPr/>
        </p:nvPicPr>
        <p:blipFill>
          <a:blip r:embed="rId2"/>
          <a:stretch/>
        </p:blipFill>
        <p:spPr>
          <a:xfrm>
            <a:off x="8064360" y="4587120"/>
            <a:ext cx="718920" cy="220320"/>
          </a:xfrm>
          <a:prstGeom prst="rect">
            <a:avLst/>
          </a:prstGeom>
          <a:ln w="0">
            <a:noFill/>
          </a:ln>
        </p:spPr>
      </p:pic>
      <p:pic>
        <p:nvPicPr>
          <p:cNvPr id="1" name="Grafik 7" descr=""/>
          <p:cNvPicPr/>
          <p:nvPr/>
        </p:nvPicPr>
        <p:blipFill>
          <a:blip r:embed="rId3"/>
          <a:stretch/>
        </p:blipFill>
        <p:spPr>
          <a:xfrm>
            <a:off x="7344000" y="3985560"/>
            <a:ext cx="1438920" cy="8409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de-DE" sz="4400" spc="-1" strike="noStrike">
                <a:latin typeface="Arial"/>
              </a:rPr>
              <a:t>Format des Titeltextes durch Klicken bearbeiten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 fontScale="8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Format des Gliederungstextes durch Klicken bearbeiten</a:t>
            </a:r>
            <a:endParaRPr b="0" lang="de-DE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latin typeface="Arial"/>
              </a:rPr>
              <a:t>Zweite Gliederungsebene</a:t>
            </a:r>
            <a:endParaRPr b="0" lang="de-DE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Dritte Gliederungsebene</a:t>
            </a:r>
            <a:endParaRPr b="0" lang="de-DE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latin typeface="Arial"/>
              </a:rPr>
              <a:t>Vierte Gliederungsebene</a:t>
            </a:r>
            <a:endParaRPr b="0" lang="de-DE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Fünfte Gliederungsebene</a:t>
            </a:r>
            <a:endParaRPr b="0" lang="de-DE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Sechste Gliederungsebene</a:t>
            </a:r>
            <a:endParaRPr b="0" lang="de-DE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Siebte Gliederungsebene</a:t>
            </a:r>
            <a:endParaRPr b="0" lang="de-DE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fik 9" descr=""/>
          <p:cNvPicPr/>
          <p:nvPr/>
        </p:nvPicPr>
        <p:blipFill>
          <a:blip r:embed="rId2"/>
          <a:stretch/>
        </p:blipFill>
        <p:spPr>
          <a:xfrm>
            <a:off x="8064360" y="4587120"/>
            <a:ext cx="718920" cy="22032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de-DE" sz="4400" spc="-1" strike="noStrike">
                <a:latin typeface="Arial"/>
              </a:rPr>
              <a:t>Format des Titeltextes durch Klicken bearbeiten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 fontScale="8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Format des Gliederungstextes durch Klicken bearbeiten</a:t>
            </a:r>
            <a:endParaRPr b="0" lang="de-DE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latin typeface="Arial"/>
              </a:rPr>
              <a:t>Zweite Gliederungsebene</a:t>
            </a:r>
            <a:endParaRPr b="0" lang="de-DE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Dritte Gliederungsebene</a:t>
            </a:r>
            <a:endParaRPr b="0" lang="de-DE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latin typeface="Arial"/>
              </a:rPr>
              <a:t>Vierte Gliederungsebene</a:t>
            </a:r>
            <a:endParaRPr b="0" lang="de-DE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Fünfte Gliederungsebene</a:t>
            </a:r>
            <a:endParaRPr b="0" lang="de-DE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Sechste Gliederungsebene</a:t>
            </a:r>
            <a:endParaRPr b="0" lang="de-DE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Siebte Gliederungsebene</a:t>
            </a:r>
            <a:endParaRPr b="0" lang="de-DE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rafik 9" descr=""/>
          <p:cNvPicPr/>
          <p:nvPr/>
        </p:nvPicPr>
        <p:blipFill>
          <a:blip r:embed="rId2"/>
          <a:stretch/>
        </p:blipFill>
        <p:spPr>
          <a:xfrm>
            <a:off x="8064360" y="4587120"/>
            <a:ext cx="718920" cy="220320"/>
          </a:xfrm>
          <a:prstGeom prst="rect">
            <a:avLst/>
          </a:prstGeom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de-DE" sz="4400" spc="-1" strike="noStrike">
                <a:latin typeface="Arial"/>
              </a:rPr>
              <a:t>Format des Titeltextes durch Klicken bearbeiten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 fontScale="8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Format des Gliederungstextes durch Klicken bearbeiten</a:t>
            </a:r>
            <a:endParaRPr b="0" lang="de-DE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latin typeface="Arial"/>
              </a:rPr>
              <a:t>Zweite Gliederungsebene</a:t>
            </a:r>
            <a:endParaRPr b="0" lang="de-DE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Dritte Gliederungsebene</a:t>
            </a:r>
            <a:endParaRPr b="0" lang="de-DE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latin typeface="Arial"/>
              </a:rPr>
              <a:t>Vierte Gliederungsebene</a:t>
            </a:r>
            <a:endParaRPr b="0" lang="de-DE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Fünfte Gliederungsebene</a:t>
            </a:r>
            <a:endParaRPr b="0" lang="de-DE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Sechste Gliederungsebene</a:t>
            </a:r>
            <a:endParaRPr b="0" lang="de-DE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Siebte Gliederungsebene</a:t>
            </a:r>
            <a:endParaRPr b="0" lang="de-DE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rafik 9" descr=""/>
          <p:cNvPicPr/>
          <p:nvPr/>
        </p:nvPicPr>
        <p:blipFill>
          <a:blip r:embed="rId2"/>
          <a:stretch/>
        </p:blipFill>
        <p:spPr>
          <a:xfrm>
            <a:off x="8064360" y="4587120"/>
            <a:ext cx="718920" cy="220320"/>
          </a:xfrm>
          <a:prstGeom prst="rect">
            <a:avLst/>
          </a:prstGeom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de-DE" sz="4400" spc="-1" strike="noStrike">
                <a:latin typeface="Arial"/>
              </a:rPr>
              <a:t>Format des Titeltextes durch Klicken bearbeiten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 fontScale="8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Format des Gliederungstextes durch Klicken bearbeiten</a:t>
            </a:r>
            <a:endParaRPr b="0" lang="de-DE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latin typeface="Arial"/>
              </a:rPr>
              <a:t>Zweite Gliederungsebene</a:t>
            </a:r>
            <a:endParaRPr b="0" lang="de-DE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Dritte Gliederungsebene</a:t>
            </a:r>
            <a:endParaRPr b="0" lang="de-DE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latin typeface="Arial"/>
              </a:rPr>
              <a:t>Vierte Gliederungsebene</a:t>
            </a:r>
            <a:endParaRPr b="0" lang="de-DE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Fünfte Gliederungsebene</a:t>
            </a:r>
            <a:endParaRPr b="0" lang="de-DE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Sechste Gliederungsebene</a:t>
            </a:r>
            <a:endParaRPr b="0" lang="de-DE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Siebte Gliederungsebene</a:t>
            </a:r>
            <a:endParaRPr b="0" lang="de-DE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rafik 9" descr=""/>
          <p:cNvPicPr/>
          <p:nvPr/>
        </p:nvPicPr>
        <p:blipFill>
          <a:blip r:embed="rId2"/>
          <a:stretch/>
        </p:blipFill>
        <p:spPr>
          <a:xfrm>
            <a:off x="8064360" y="4587120"/>
            <a:ext cx="718920" cy="220320"/>
          </a:xfrm>
          <a:prstGeom prst="rect">
            <a:avLst/>
          </a:prstGeom>
          <a:ln w="0">
            <a:noFill/>
          </a:ln>
        </p:spPr>
      </p:pic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de-DE" sz="4400" spc="-1" strike="noStrike">
                <a:latin typeface="Arial"/>
              </a:rPr>
              <a:t>Format des Titeltextes durch Klicken bearbeiten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 fontScale="8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Format des Gliederungstextes durch Klicken bearbeiten</a:t>
            </a:r>
            <a:endParaRPr b="0" lang="de-DE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latin typeface="Arial"/>
              </a:rPr>
              <a:t>Zweite Gliederungsebene</a:t>
            </a:r>
            <a:endParaRPr b="0" lang="de-DE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Dritte Gliederungsebene</a:t>
            </a:r>
            <a:endParaRPr b="0" lang="de-DE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latin typeface="Arial"/>
              </a:rPr>
              <a:t>Vierte Gliederungsebene</a:t>
            </a:r>
            <a:endParaRPr b="0" lang="de-DE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Fünfte Gliederungsebene</a:t>
            </a:r>
            <a:endParaRPr b="0" lang="de-DE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Sechste Gliederungsebene</a:t>
            </a:r>
            <a:endParaRPr b="0" lang="de-DE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Siebte Gliederungsebene</a:t>
            </a:r>
            <a:endParaRPr b="0" lang="de-DE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rafik 9" descr=""/>
          <p:cNvPicPr/>
          <p:nvPr/>
        </p:nvPicPr>
        <p:blipFill>
          <a:blip r:embed="rId2"/>
          <a:stretch/>
        </p:blipFill>
        <p:spPr>
          <a:xfrm>
            <a:off x="8064360" y="4587120"/>
            <a:ext cx="718920" cy="220320"/>
          </a:xfrm>
          <a:prstGeom prst="rect">
            <a:avLst/>
          </a:prstGeom>
          <a:ln w="0">
            <a:noFill/>
          </a:ln>
        </p:spPr>
      </p:pic>
      <p:sp>
        <p:nvSpPr>
          <p:cNvPr id="197" name="CustomShape 1"/>
          <p:cNvSpPr/>
          <p:nvPr/>
        </p:nvSpPr>
        <p:spPr>
          <a:xfrm>
            <a:off x="0" y="0"/>
            <a:ext cx="9142920" cy="257292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98" name="Grafik 6" descr=""/>
          <p:cNvPicPr/>
          <p:nvPr/>
        </p:nvPicPr>
        <p:blipFill>
          <a:blip r:embed="rId3"/>
          <a:stretch/>
        </p:blipFill>
        <p:spPr>
          <a:xfrm>
            <a:off x="7344000" y="3985560"/>
            <a:ext cx="1438920" cy="840960"/>
          </a:xfrm>
          <a:prstGeom prst="rect">
            <a:avLst/>
          </a:prstGeom>
          <a:ln w="0">
            <a:noFill/>
          </a:ln>
        </p:spPr>
      </p:pic>
      <p:sp>
        <p:nvSpPr>
          <p:cNvPr id="199" name="CustomShape 2"/>
          <p:cNvSpPr/>
          <p:nvPr/>
        </p:nvSpPr>
        <p:spPr>
          <a:xfrm>
            <a:off x="539640" y="4596840"/>
            <a:ext cx="36709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00"/>
              </a:lnSpc>
            </a:pPr>
            <a:r>
              <a:rPr b="0" lang="de-DE" sz="18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www.htw-berlin.de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de-DE" sz="4400" spc="-1" strike="noStrike">
                <a:latin typeface="Arial"/>
              </a:rPr>
              <a:t>Format des Titeltextes durch Klicken bearbeiten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 fontScale="8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Format des Gliederungstextes durch Klicken bearbeiten</a:t>
            </a:r>
            <a:endParaRPr b="0" lang="de-DE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latin typeface="Arial"/>
              </a:rPr>
              <a:t>Zweite Gliederungsebene</a:t>
            </a:r>
            <a:endParaRPr b="0" lang="de-DE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Dritte Gliederungsebene</a:t>
            </a:r>
            <a:endParaRPr b="0" lang="de-DE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latin typeface="Arial"/>
              </a:rPr>
              <a:t>Vierte Gliederungsebene</a:t>
            </a:r>
            <a:endParaRPr b="0" lang="de-DE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Fünfte Gliederungsebene</a:t>
            </a:r>
            <a:endParaRPr b="0" lang="de-DE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Sechste Gliederungsebene</a:t>
            </a:r>
            <a:endParaRPr b="0" lang="de-DE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Siebte Gliederungsebene</a:t>
            </a:r>
            <a:endParaRPr b="0" lang="de-DE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rafik 9" descr=""/>
          <p:cNvPicPr/>
          <p:nvPr/>
        </p:nvPicPr>
        <p:blipFill>
          <a:blip r:embed="rId2"/>
          <a:stretch/>
        </p:blipFill>
        <p:spPr>
          <a:xfrm>
            <a:off x="8064360" y="4587120"/>
            <a:ext cx="718920" cy="220320"/>
          </a:xfrm>
          <a:prstGeom prst="rect">
            <a:avLst/>
          </a:prstGeom>
          <a:ln w="0">
            <a:noFill/>
          </a:ln>
        </p:spPr>
      </p:pic>
      <p:sp>
        <p:nvSpPr>
          <p:cNvPr id="239" name="CustomShape 1"/>
          <p:cNvSpPr/>
          <p:nvPr/>
        </p:nvSpPr>
        <p:spPr>
          <a:xfrm>
            <a:off x="0" y="0"/>
            <a:ext cx="9142920" cy="51944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40" name="Grafik 6" descr=""/>
          <p:cNvPicPr/>
          <p:nvPr/>
        </p:nvPicPr>
        <p:blipFill>
          <a:blip r:embed="rId3"/>
          <a:stretch/>
        </p:blipFill>
        <p:spPr>
          <a:xfrm>
            <a:off x="3241080" y="1374120"/>
            <a:ext cx="2660760" cy="1555560"/>
          </a:xfrm>
          <a:prstGeom prst="rect">
            <a:avLst/>
          </a:prstGeom>
          <a:ln w="0">
            <a:noFill/>
          </a:ln>
        </p:spPr>
      </p:pic>
      <p:sp>
        <p:nvSpPr>
          <p:cNvPr id="241" name="CustomShape 2"/>
          <p:cNvSpPr/>
          <p:nvPr/>
        </p:nvSpPr>
        <p:spPr>
          <a:xfrm>
            <a:off x="3751920" y="3691440"/>
            <a:ext cx="36709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00"/>
              </a:lnSpc>
            </a:pPr>
            <a:r>
              <a:rPr b="0" lang="de-DE" sz="18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www.htw-berlin.de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de-DE" sz="4400" spc="-1" strike="noStrike">
                <a:latin typeface="Arial"/>
              </a:rPr>
              <a:t>Format des Titeltextes durch Klicken bearbeiten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 fontScale="8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Format des Gliederungstextes durch Klicken bearbeiten</a:t>
            </a:r>
            <a:endParaRPr b="0" lang="de-DE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latin typeface="Arial"/>
              </a:rPr>
              <a:t>Zweite Gliederungsebene</a:t>
            </a:r>
            <a:endParaRPr b="0" lang="de-DE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Dritte Gliederungsebene</a:t>
            </a:r>
            <a:endParaRPr b="0" lang="de-DE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latin typeface="Arial"/>
              </a:rPr>
              <a:t>Vierte Gliederungsebene</a:t>
            </a:r>
            <a:endParaRPr b="0" lang="de-DE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Fünfte Gliederungsebene</a:t>
            </a:r>
            <a:endParaRPr b="0" lang="de-DE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Sechste Gliederungsebene</a:t>
            </a:r>
            <a:endParaRPr b="0" lang="de-DE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Siebte Gliederungsebene</a:t>
            </a:r>
            <a:endParaRPr b="0" lang="de-DE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6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CustomShape 1"/>
          <p:cNvSpPr/>
          <p:nvPr/>
        </p:nvSpPr>
        <p:spPr>
          <a:xfrm>
            <a:off x="539640" y="4253040"/>
            <a:ext cx="6489000" cy="8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500"/>
              </a:lnSpc>
              <a:spcAft>
                <a:spcPts val="550"/>
              </a:spcAft>
              <a:tabLst>
                <a:tab algn="l" pos="0"/>
              </a:tabLst>
            </a:pPr>
            <a:r>
              <a:rPr b="0" lang="de-DE" sz="18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Lechner, Sobotta, Roßmann </a:t>
            </a:r>
            <a:endParaRPr b="0" lang="de-DE" sz="1800" spc="-1" strike="noStrike">
              <a:latin typeface="Arial"/>
            </a:endParaRPr>
          </a:p>
          <a:p>
            <a:pPr>
              <a:lnSpc>
                <a:spcPts val="2500"/>
              </a:lnSpc>
              <a:spcAft>
                <a:spcPts val="550"/>
              </a:spcAft>
              <a:tabLst>
                <a:tab algn="l" pos="0"/>
              </a:tabLst>
            </a:pPr>
            <a:r>
              <a:rPr b="0" lang="de-DE" sz="18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09.02.2023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281" name="CustomShape 2"/>
          <p:cNvSpPr/>
          <p:nvPr/>
        </p:nvSpPr>
        <p:spPr>
          <a:xfrm>
            <a:off x="539640" y="3638880"/>
            <a:ext cx="6636960" cy="6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CustomShape 3"/>
          <p:cNvSpPr/>
          <p:nvPr/>
        </p:nvSpPr>
        <p:spPr>
          <a:xfrm>
            <a:off x="540360" y="2790720"/>
            <a:ext cx="663696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399"/>
              </a:lnSpc>
            </a:pPr>
            <a:r>
              <a:rPr b="1" lang="de-DE" sz="3200" spc="-1" strike="noStrike">
                <a:solidFill>
                  <a:srgbClr val="76b900"/>
                </a:solidFill>
                <a:latin typeface="HTWBerlin Office"/>
                <a:ea typeface="DejaVu Sans"/>
              </a:rPr>
              <a:t>Empfang von Wetterstateliten Daten</a:t>
            </a:r>
            <a:endParaRPr b="0" lang="de-DE" sz="3200" spc="-1" strike="noStrike">
              <a:latin typeface="Arial"/>
            </a:endParaRPr>
          </a:p>
        </p:txBody>
      </p:sp>
      <p:pic>
        <p:nvPicPr>
          <p:cNvPr id="283" name="Bildplatzhalter 6" descr="Ein Bild, das Transport, Satellit, Welle, Nachthimmel enthält."/>
          <p:cNvPicPr/>
          <p:nvPr/>
        </p:nvPicPr>
        <p:blipFill>
          <a:blip r:embed="rId1"/>
          <a:srcRect l="0" t="28893" r="0" b="28893"/>
          <a:stretch/>
        </p:blipFill>
        <p:spPr>
          <a:xfrm>
            <a:off x="0" y="0"/>
            <a:ext cx="9142920" cy="257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Bildplatzhalter 7" descr="Ein Bild, das Transport, Satellit, Welle, Nachthimmel enthält.&#10;&#10;Automatisch generierte Beschreibung"/>
          <p:cNvPicPr/>
          <p:nvPr/>
        </p:nvPicPr>
        <p:blipFill>
          <a:blip r:embed="rId1"/>
          <a:srcRect l="26193" t="0" r="26193" b="0"/>
          <a:stretch/>
        </p:blipFill>
        <p:spPr>
          <a:xfrm>
            <a:off x="5470560" y="0"/>
            <a:ext cx="3672360" cy="5142240"/>
          </a:xfrm>
          <a:prstGeom prst="rect">
            <a:avLst/>
          </a:prstGeom>
          <a:ln w="0">
            <a:noFill/>
          </a:ln>
        </p:spPr>
      </p:pic>
      <p:sp>
        <p:nvSpPr>
          <p:cNvPr id="285" name="CustomShape 1"/>
          <p:cNvSpPr/>
          <p:nvPr/>
        </p:nvSpPr>
        <p:spPr>
          <a:xfrm>
            <a:off x="539640" y="305280"/>
            <a:ext cx="466020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399"/>
              </a:lnSpc>
            </a:pPr>
            <a:r>
              <a:rPr b="1" lang="de-DE" sz="32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Inhalt</a:t>
            </a:r>
            <a:endParaRPr b="0" lang="de-DE" sz="3200" spc="-1" strike="noStrike">
              <a:latin typeface="Arial"/>
            </a:endParaRPr>
          </a:p>
        </p:txBody>
      </p:sp>
      <p:sp>
        <p:nvSpPr>
          <p:cNvPr id="286" name="CustomShape 2"/>
          <p:cNvSpPr/>
          <p:nvPr/>
        </p:nvSpPr>
        <p:spPr>
          <a:xfrm>
            <a:off x="2450160" y="4687200"/>
            <a:ext cx="2750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0" lang="de-DE" sz="1000" spc="-1" strike="noStrike">
                <a:solidFill>
                  <a:srgbClr val="a6a6a6"/>
                </a:solidFill>
                <a:latin typeface="HTWBerlin Office"/>
                <a:ea typeface="DejaVu Sans"/>
              </a:rPr>
              <a:t>Inhalt</a:t>
            </a:r>
            <a:endParaRPr b="0" lang="de-DE" sz="1000" spc="-1" strike="noStrike">
              <a:latin typeface="Arial"/>
            </a:endParaRPr>
          </a:p>
        </p:txBody>
      </p:sp>
      <p:sp>
        <p:nvSpPr>
          <p:cNvPr id="287" name="CustomShape 3"/>
          <p:cNvSpPr/>
          <p:nvPr/>
        </p:nvSpPr>
        <p:spPr>
          <a:xfrm>
            <a:off x="539640" y="4687200"/>
            <a:ext cx="17276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fld id="{EE54F986-6A46-40B1-829F-049A6DEF015A}" type="slidenum">
              <a:rPr b="1" lang="de-DE" sz="1000" spc="-1" strike="noStrike">
                <a:solidFill>
                  <a:srgbClr val="787878"/>
                </a:solidFill>
                <a:latin typeface="HTWBerlin Office"/>
                <a:ea typeface="DejaVu Sans"/>
              </a:rPr>
              <a:t>&lt;Foliennummer&gt;</a:t>
            </a:fld>
            <a:endParaRPr b="0" lang="de-DE" sz="1000" spc="-1" strike="noStrike">
              <a:latin typeface="Arial"/>
            </a:endParaRPr>
          </a:p>
        </p:txBody>
      </p:sp>
      <p:sp>
        <p:nvSpPr>
          <p:cNvPr id="288" name="CustomShape 4"/>
          <p:cNvSpPr/>
          <p:nvPr/>
        </p:nvSpPr>
        <p:spPr>
          <a:xfrm>
            <a:off x="540000" y="1320120"/>
            <a:ext cx="4648320" cy="30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285840" indent="-284760">
              <a:lnSpc>
                <a:spcPct val="100000"/>
              </a:lnSpc>
              <a:spcAft>
                <a:spcPts val="550"/>
              </a:spcAft>
              <a:buClr>
                <a:srgbClr val="000000"/>
              </a:buClr>
              <a:buFont typeface="Wingdings" charset="2"/>
              <a:buChar char=""/>
            </a:pPr>
            <a:r>
              <a:rPr b="0" lang="de-DE" sz="20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Einleitung</a:t>
            </a:r>
            <a:endParaRPr b="0" lang="de-DE" sz="2000" spc="-1" strike="noStrike">
              <a:latin typeface="Arial"/>
            </a:endParaRPr>
          </a:p>
          <a:p>
            <a:pPr marL="285840" indent="-284760">
              <a:lnSpc>
                <a:spcPct val="100000"/>
              </a:lnSpc>
              <a:spcAft>
                <a:spcPts val="550"/>
              </a:spcAft>
              <a:buClr>
                <a:srgbClr val="000000"/>
              </a:buClr>
              <a:buFont typeface="Wingdings" charset="2"/>
              <a:buChar char=""/>
            </a:pPr>
            <a:r>
              <a:rPr b="0" lang="de-DE" sz="20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Hardware</a:t>
            </a:r>
            <a:endParaRPr b="0" lang="de-DE" sz="2000" spc="-1" strike="noStrike">
              <a:latin typeface="Arial"/>
            </a:endParaRPr>
          </a:p>
          <a:p>
            <a:pPr marL="285840" indent="-284760">
              <a:lnSpc>
                <a:spcPct val="100000"/>
              </a:lnSpc>
              <a:spcAft>
                <a:spcPts val="550"/>
              </a:spcAft>
              <a:buClr>
                <a:srgbClr val="000000"/>
              </a:buClr>
              <a:buFont typeface="Wingdings" charset="2"/>
              <a:buChar char=""/>
            </a:pPr>
            <a:r>
              <a:rPr b="0" lang="de-DE" sz="20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Software</a:t>
            </a:r>
            <a:endParaRPr b="0" lang="de-DE" sz="2000" spc="-1" strike="noStrike">
              <a:latin typeface="Arial"/>
            </a:endParaRPr>
          </a:p>
          <a:p>
            <a:pPr marL="285840" indent="-284760">
              <a:lnSpc>
                <a:spcPct val="100000"/>
              </a:lnSpc>
              <a:spcAft>
                <a:spcPts val="550"/>
              </a:spcAft>
              <a:buClr>
                <a:srgbClr val="000000"/>
              </a:buClr>
              <a:buFont typeface="Wingdings" charset="2"/>
              <a:buChar char=""/>
            </a:pPr>
            <a:r>
              <a:rPr b="0" lang="de-DE" sz="20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Versuchdurchführung</a:t>
            </a:r>
            <a:endParaRPr b="0" lang="de-DE" sz="2000" spc="-1" strike="noStrike">
              <a:latin typeface="Arial"/>
            </a:endParaRPr>
          </a:p>
          <a:p>
            <a:pPr marL="285840" indent="-284760">
              <a:lnSpc>
                <a:spcPct val="100000"/>
              </a:lnSpc>
              <a:spcAft>
                <a:spcPts val="550"/>
              </a:spcAft>
              <a:buClr>
                <a:srgbClr val="000000"/>
              </a:buClr>
              <a:buFont typeface="Wingdings" charset="2"/>
              <a:buChar char=""/>
            </a:pPr>
            <a:r>
              <a:rPr b="0" lang="de-DE" sz="20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Auswertung &amp; Fazit</a:t>
            </a:r>
            <a:endParaRPr b="0" lang="de-DE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550"/>
              </a:spcAft>
            </a:pPr>
            <a:endParaRPr b="0" lang="de-DE" sz="2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Bildplatzhalter 9" descr="Ein Bild, das Text enthält.&#10;&#10;Automatisch generierte Beschreibung"/>
          <p:cNvPicPr/>
          <p:nvPr/>
        </p:nvPicPr>
        <p:blipFill>
          <a:blip r:embed="rId1"/>
          <a:srcRect l="30805" t="0" r="43986" b="0"/>
          <a:stretch/>
        </p:blipFill>
        <p:spPr>
          <a:xfrm>
            <a:off x="6773400" y="0"/>
            <a:ext cx="2369520" cy="5142240"/>
          </a:xfrm>
          <a:prstGeom prst="rect">
            <a:avLst/>
          </a:prstGeom>
          <a:ln w="0">
            <a:noFill/>
          </a:ln>
        </p:spPr>
      </p:pic>
      <p:sp>
        <p:nvSpPr>
          <p:cNvPr id="290" name="CustomShape 1"/>
          <p:cNvSpPr/>
          <p:nvPr/>
        </p:nvSpPr>
        <p:spPr>
          <a:xfrm>
            <a:off x="539640" y="305280"/>
            <a:ext cx="4660200" cy="8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>
              <a:lnSpc>
                <a:spcPct val="90000"/>
              </a:lnSpc>
            </a:pPr>
            <a:r>
              <a:rPr b="1" lang="de-DE" sz="36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Einleitung</a:t>
            </a:r>
            <a:endParaRPr b="0" lang="de-DE" sz="3600" spc="-1" strike="noStrike">
              <a:latin typeface="Arial"/>
            </a:endParaRPr>
          </a:p>
        </p:txBody>
      </p:sp>
      <p:sp>
        <p:nvSpPr>
          <p:cNvPr id="291" name="CustomShape 2"/>
          <p:cNvSpPr/>
          <p:nvPr/>
        </p:nvSpPr>
        <p:spPr>
          <a:xfrm>
            <a:off x="2450160" y="4687200"/>
            <a:ext cx="2750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11000"/>
          </a:bodyPr>
          <a:p>
            <a:pPr>
              <a:lnSpc>
                <a:spcPct val="90000"/>
              </a:lnSpc>
              <a:spcAft>
                <a:spcPts val="601"/>
              </a:spcAft>
            </a:pPr>
            <a:r>
              <a:rPr b="0" lang="de-DE" sz="3200" spc="-1" strike="noStrike">
                <a:solidFill>
                  <a:srgbClr val="8b8b8b"/>
                </a:solidFill>
                <a:latin typeface="Calibri"/>
                <a:ea typeface="DejaVu Sans"/>
              </a:rPr>
              <a:t>Einleitung</a:t>
            </a:r>
            <a:endParaRPr b="0" lang="de-DE" sz="3200" spc="-1" strike="noStrike">
              <a:latin typeface="Arial"/>
            </a:endParaRPr>
          </a:p>
        </p:txBody>
      </p:sp>
      <p:sp>
        <p:nvSpPr>
          <p:cNvPr id="292" name="CustomShape 3"/>
          <p:cNvSpPr/>
          <p:nvPr/>
        </p:nvSpPr>
        <p:spPr>
          <a:xfrm>
            <a:off x="539640" y="4687200"/>
            <a:ext cx="17276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23000"/>
          </a:bodyPr>
          <a:p>
            <a:pPr>
              <a:lnSpc>
                <a:spcPct val="90000"/>
              </a:lnSpc>
              <a:spcAft>
                <a:spcPts val="601"/>
              </a:spcAft>
            </a:pPr>
            <a:fld id="{82C67558-72FF-4E29-9BAD-E2AD55C4543D}" type="slidenum">
              <a:rPr b="0" lang="de-DE" sz="2000" spc="-1" strike="noStrike">
                <a:solidFill>
                  <a:srgbClr val="8b8b8b"/>
                </a:solidFill>
                <a:latin typeface="Calibri"/>
                <a:ea typeface="DejaVu Sans"/>
              </a:rPr>
              <a:t>3</a:t>
            </a:fld>
            <a:endParaRPr b="0" lang="de-DE" sz="2000" spc="-1" strike="noStrike">
              <a:latin typeface="Arial"/>
            </a:endParaRPr>
          </a:p>
        </p:txBody>
      </p:sp>
      <p:sp>
        <p:nvSpPr>
          <p:cNvPr id="293" name="CustomShape 4"/>
          <p:cNvSpPr/>
          <p:nvPr/>
        </p:nvSpPr>
        <p:spPr>
          <a:xfrm>
            <a:off x="540000" y="1320120"/>
            <a:ext cx="4648320" cy="30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343080" indent="-227520">
              <a:lnSpc>
                <a:spcPct val="90000"/>
              </a:lnSpc>
              <a:spcAft>
                <a:spcPts val="550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Empfangen von Wettersateliten Daten mit RTL-SDR</a:t>
            </a:r>
            <a:endParaRPr b="0" lang="de-DE" sz="1800" spc="-1" strike="noStrike">
              <a:latin typeface="Arial"/>
            </a:endParaRPr>
          </a:p>
          <a:p>
            <a:pPr marL="343080" indent="-227520">
              <a:lnSpc>
                <a:spcPct val="90000"/>
              </a:lnSpc>
              <a:spcAft>
                <a:spcPts val="550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Wollen zeigen → für Laien prinzipiell möglich</a:t>
            </a:r>
            <a:endParaRPr b="0" lang="de-DE" sz="1800" spc="-1" strike="noStrike">
              <a:latin typeface="Arial"/>
            </a:endParaRPr>
          </a:p>
          <a:p>
            <a:pPr marL="343080" indent="-227520">
              <a:lnSpc>
                <a:spcPct val="90000"/>
              </a:lnSpc>
              <a:spcAft>
                <a:spcPts val="550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Nur Materialen verwenden, die leicht zu beschaffen sind</a:t>
            </a:r>
            <a:endParaRPr b="0" lang="de-DE" sz="1800" spc="-1" strike="noStrike">
              <a:latin typeface="Arial"/>
            </a:endParaRPr>
          </a:p>
          <a:p>
            <a:pPr>
              <a:lnSpc>
                <a:spcPct val="90000"/>
              </a:lnSpc>
              <a:spcAft>
                <a:spcPts val="550"/>
              </a:spcAft>
            </a:pPr>
            <a:endParaRPr b="0" lang="de-DE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CustomShape 1"/>
          <p:cNvSpPr/>
          <p:nvPr/>
        </p:nvSpPr>
        <p:spPr>
          <a:xfrm>
            <a:off x="1836720" y="2700000"/>
            <a:ext cx="7523280" cy="34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343080" indent="-342000">
              <a:lnSpc>
                <a:spcPct val="100000"/>
              </a:lnSpc>
              <a:spcAft>
                <a:spcPts val="550"/>
              </a:spcAft>
              <a:buClr>
                <a:srgbClr val="000000"/>
              </a:buClr>
              <a:buFont typeface="Arial"/>
              <a:buChar char="•"/>
            </a:pPr>
            <a:endParaRPr b="0" lang="de-DE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800" spc="-1" strike="noStrike">
              <a:latin typeface="Arial"/>
            </a:endParaRPr>
          </a:p>
          <a:p>
            <a:pPr marL="136440">
              <a:lnSpc>
                <a:spcPct val="100000"/>
              </a:lnSpc>
              <a:spcAft>
                <a:spcPts val="550"/>
              </a:spcAft>
              <a:tabLst>
                <a:tab algn="l" pos="0"/>
              </a:tabLst>
            </a:pPr>
            <a:endParaRPr b="0" lang="de-DE" sz="1800" spc="-1" strike="noStrike">
              <a:latin typeface="Arial"/>
            </a:endParaRPr>
          </a:p>
        </p:txBody>
      </p:sp>
      <p:sp>
        <p:nvSpPr>
          <p:cNvPr id="295" name="CustomShape 2"/>
          <p:cNvSpPr/>
          <p:nvPr/>
        </p:nvSpPr>
        <p:spPr>
          <a:xfrm>
            <a:off x="539640" y="305280"/>
            <a:ext cx="7523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399"/>
              </a:lnSpc>
            </a:pPr>
            <a:r>
              <a:rPr b="1" lang="de-DE" sz="32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Hardware</a:t>
            </a:r>
            <a:endParaRPr b="0" lang="de-DE" sz="3200" spc="-1" strike="noStrike">
              <a:latin typeface="Arial"/>
            </a:endParaRPr>
          </a:p>
        </p:txBody>
      </p:sp>
      <p:sp>
        <p:nvSpPr>
          <p:cNvPr id="296" name="CustomShape 3"/>
          <p:cNvSpPr/>
          <p:nvPr/>
        </p:nvSpPr>
        <p:spPr>
          <a:xfrm>
            <a:off x="2450160" y="4687200"/>
            <a:ext cx="548388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0" lang="de-DE" sz="1000" spc="-1" strike="noStrike">
                <a:solidFill>
                  <a:srgbClr val="a6a6a6"/>
                </a:solidFill>
                <a:latin typeface="HTWBerlin Office"/>
                <a:ea typeface="DejaVu Sans"/>
              </a:rPr>
              <a:t>Hardware</a:t>
            </a:r>
            <a:endParaRPr b="0" lang="de-DE" sz="1000" spc="-1" strike="noStrike">
              <a:latin typeface="Arial"/>
            </a:endParaRPr>
          </a:p>
        </p:txBody>
      </p:sp>
      <p:sp>
        <p:nvSpPr>
          <p:cNvPr id="297" name="CustomShape 4"/>
          <p:cNvSpPr/>
          <p:nvPr/>
        </p:nvSpPr>
        <p:spPr>
          <a:xfrm>
            <a:off x="539640" y="4687200"/>
            <a:ext cx="17276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fld id="{173314F8-0BE5-43F8-A9D8-C15D56525112}" type="slidenum">
              <a:rPr b="1" lang="de-DE" sz="1000" spc="-1" strike="noStrike">
                <a:solidFill>
                  <a:srgbClr val="787878"/>
                </a:solidFill>
                <a:latin typeface="HTWBerlin Office"/>
                <a:ea typeface="DejaVu Sans"/>
              </a:rPr>
              <a:t>3</a:t>
            </a:fld>
            <a:endParaRPr b="0" lang="de-DE" sz="1000" spc="-1" strike="noStrike">
              <a:latin typeface="Arial"/>
            </a:endParaRPr>
          </a:p>
        </p:txBody>
      </p:sp>
      <p:sp>
        <p:nvSpPr>
          <p:cNvPr id="298" name="TextShape 5"/>
          <p:cNvSpPr txBox="1"/>
          <p:nvPr/>
        </p:nvSpPr>
        <p:spPr>
          <a:xfrm>
            <a:off x="1675800" y="1080000"/>
            <a:ext cx="17442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1" lang="de-DE" sz="1800" spc="-1" strike="noStrike">
                <a:latin typeface="Arial"/>
              </a:rPr>
              <a:t>Dipol-Antenne</a:t>
            </a:r>
            <a:endParaRPr b="1" lang="de-DE" sz="1800" spc="-1" strike="noStrike">
              <a:latin typeface="Arial"/>
            </a:endParaRPr>
          </a:p>
        </p:txBody>
      </p:sp>
      <p:sp>
        <p:nvSpPr>
          <p:cNvPr id="299" name="TextShape 6"/>
          <p:cNvSpPr txBox="1"/>
          <p:nvPr/>
        </p:nvSpPr>
        <p:spPr>
          <a:xfrm>
            <a:off x="540000" y="1440000"/>
            <a:ext cx="4363560" cy="213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Besteht aus zwei Metallstangen</a:t>
            </a:r>
            <a:br/>
            <a:r>
              <a:rPr b="0" lang="de-DE" sz="1800" spc="-1" strike="noStrike">
                <a:latin typeface="Arial"/>
              </a:rPr>
              <a:t>oder Drähten</a:t>
            </a:r>
            <a:endParaRPr b="0" lang="de-DE" sz="1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Die optimale Länge: λ/2</a:t>
            </a:r>
            <a:endParaRPr b="0" lang="de-DE" sz="1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de-DE" sz="1800" spc="-1" strike="noStrike">
                <a:latin typeface="Arial"/>
              </a:rPr>
              <a:t>Pro: leichte Beschaffung, leicht auf</a:t>
            </a:r>
            <a:br/>
            <a:r>
              <a:rPr b="0" lang="de-DE" sz="1800" spc="-1" strike="noStrike">
                <a:latin typeface="Arial"/>
              </a:rPr>
              <a:t>Wellenlänge/Freqeunz einstellbar</a:t>
            </a:r>
            <a:endParaRPr b="0" lang="de-DE" sz="1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"/>
            </a:pPr>
            <a:r>
              <a:rPr b="0" lang="de-DE" sz="1800" spc="-1" strike="noStrike">
                <a:latin typeface="Arial"/>
              </a:rPr>
              <a:t>Contra: muss ausgerichtet werden →</a:t>
            </a:r>
            <a:br/>
            <a:r>
              <a:rPr b="0" lang="de-DE" sz="1800" spc="-1" strike="noStrike">
                <a:latin typeface="Arial"/>
              </a:rPr>
              <a:t>erschwerter Empfang von bewegenden</a:t>
            </a:r>
            <a:br/>
            <a:r>
              <a:rPr b="0" lang="de-DE" sz="1800" spc="-1" strike="noStrike">
                <a:latin typeface="Arial"/>
              </a:rPr>
              <a:t>Sender 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300" name="TextShape 7"/>
          <p:cNvSpPr txBox="1"/>
          <p:nvPr/>
        </p:nvSpPr>
        <p:spPr>
          <a:xfrm>
            <a:off x="5760000" y="1052280"/>
            <a:ext cx="165456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1" lang="de-DE" sz="1800" spc="-1" strike="noStrike">
                <a:latin typeface="Arial"/>
              </a:rPr>
              <a:t>QFH-Antenne</a:t>
            </a:r>
            <a:endParaRPr b="1" lang="de-DE" sz="1800" spc="-1" strike="noStrike">
              <a:latin typeface="Arial"/>
            </a:endParaRPr>
          </a:p>
        </p:txBody>
      </p:sp>
      <p:sp>
        <p:nvSpPr>
          <p:cNvPr id="301" name="TextShape 8"/>
          <p:cNvSpPr txBox="1"/>
          <p:nvPr/>
        </p:nvSpPr>
        <p:spPr>
          <a:xfrm>
            <a:off x="4903560" y="1440000"/>
            <a:ext cx="3603240" cy="188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Steht für Quadrifilar helicoidal </a:t>
            </a:r>
            <a:br/>
            <a:r>
              <a:rPr b="0" lang="de-DE" sz="1800" spc="-1" strike="noStrike">
                <a:latin typeface="Arial"/>
              </a:rPr>
              <a:t>Antenne</a:t>
            </a:r>
            <a:endParaRPr b="0" lang="de-DE" sz="1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Besteht aus vier Drähten die </a:t>
            </a:r>
            <a:br/>
            <a:r>
              <a:rPr b="0" lang="de-DE" sz="1800" spc="-1" strike="noStrike">
                <a:latin typeface="Arial"/>
              </a:rPr>
              <a:t>verdreht sind</a:t>
            </a:r>
            <a:endParaRPr b="0" lang="de-DE" sz="1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de-DE" sz="1800" spc="-1" strike="noStrike">
                <a:latin typeface="Arial"/>
              </a:rPr>
              <a:t>Pro: durch Drehung der Drähte</a:t>
            </a:r>
            <a:br/>
            <a:r>
              <a:rPr b="0" lang="de-DE" sz="1800" spc="-1" strike="noStrike">
                <a:latin typeface="Arial"/>
              </a:rPr>
              <a:t>besserer Signal-Empfang</a:t>
            </a:r>
            <a:endParaRPr b="0" lang="de-DE" sz="1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"/>
            </a:pPr>
            <a:r>
              <a:rPr b="0" lang="de-DE" sz="1800" spc="-1" strike="noStrike">
                <a:latin typeface="Arial"/>
              </a:rPr>
              <a:t>Contra: komplizierter einstellbar</a:t>
            </a:r>
            <a:endParaRPr b="0" lang="de-DE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ustomShape 1"/>
          <p:cNvSpPr/>
          <p:nvPr/>
        </p:nvSpPr>
        <p:spPr>
          <a:xfrm>
            <a:off x="2450160" y="4687200"/>
            <a:ext cx="548388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0" lang="de-DE" sz="1000" spc="-1" strike="noStrike">
                <a:solidFill>
                  <a:srgbClr val="a6a6a6"/>
                </a:solidFill>
                <a:latin typeface="HTWBerlin Office"/>
                <a:ea typeface="DejaVu Sans"/>
              </a:rPr>
              <a:t>Antennen Bilder</a:t>
            </a:r>
            <a:endParaRPr b="0" lang="de-DE" sz="1000" spc="-1" strike="noStrike">
              <a:latin typeface="Arial"/>
            </a:endParaRPr>
          </a:p>
        </p:txBody>
      </p:sp>
      <p:sp>
        <p:nvSpPr>
          <p:cNvPr id="303" name="CustomShape 2"/>
          <p:cNvSpPr/>
          <p:nvPr/>
        </p:nvSpPr>
        <p:spPr>
          <a:xfrm>
            <a:off x="539640" y="4687200"/>
            <a:ext cx="17276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fld id="{8415A44C-37E0-4C94-B253-8FB33E26C907}" type="slidenum">
              <a:rPr b="1" lang="de-DE" sz="1000" spc="-1" strike="noStrike">
                <a:solidFill>
                  <a:srgbClr val="787878"/>
                </a:solidFill>
                <a:latin typeface="HTWBerlin Office"/>
                <a:ea typeface="DejaVu Sans"/>
              </a:rPr>
              <a:t>3</a:t>
            </a:fld>
            <a:endParaRPr b="0" lang="de-DE" sz="1000" spc="-1" strike="noStrike">
              <a:latin typeface="Arial"/>
            </a:endParaRPr>
          </a:p>
        </p:txBody>
      </p:sp>
      <p:sp>
        <p:nvSpPr>
          <p:cNvPr id="304" name="CustomShape 3"/>
          <p:cNvSpPr/>
          <p:nvPr/>
        </p:nvSpPr>
        <p:spPr>
          <a:xfrm>
            <a:off x="539640" y="305280"/>
            <a:ext cx="7523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CustomShape 4"/>
          <p:cNvSpPr/>
          <p:nvPr/>
        </p:nvSpPr>
        <p:spPr>
          <a:xfrm>
            <a:off x="539640" y="3615480"/>
            <a:ext cx="3871800" cy="4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  <a:spcAft>
                <a:spcPts val="550"/>
              </a:spcAft>
              <a:tabLst>
                <a:tab algn="l" pos="0"/>
              </a:tabLst>
            </a:pPr>
            <a:r>
              <a:rPr b="0" lang="de-DE" sz="1050" spc="-1" strike="noStrike">
                <a:solidFill>
                  <a:srgbClr val="808080"/>
                </a:solidFill>
                <a:latin typeface="HTWBerlin Office"/>
                <a:ea typeface="DejaVu Sans"/>
              </a:rPr>
              <a:t>QFH-Antenne aus unserem Versuch mit Längen-</a:t>
            </a:r>
            <a:br/>
            <a:r>
              <a:rPr b="0" lang="de-DE" sz="1050" spc="-1" strike="noStrike">
                <a:solidFill>
                  <a:srgbClr val="808080"/>
                </a:solidFill>
                <a:latin typeface="HTWBerlin Office"/>
                <a:ea typeface="DejaVu Sans"/>
              </a:rPr>
              <a:t>angaben</a:t>
            </a:r>
            <a:endParaRPr b="0" lang="de-DE" sz="1050" spc="-1" strike="noStrike">
              <a:latin typeface="Arial"/>
            </a:endParaRPr>
          </a:p>
        </p:txBody>
      </p:sp>
      <p:sp>
        <p:nvSpPr>
          <p:cNvPr id="306" name="CustomShape 5"/>
          <p:cNvSpPr/>
          <p:nvPr/>
        </p:nvSpPr>
        <p:spPr>
          <a:xfrm>
            <a:off x="4572000" y="3627720"/>
            <a:ext cx="392076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  <a:spcAft>
                <a:spcPts val="550"/>
              </a:spcAft>
              <a:tabLst>
                <a:tab algn="l" pos="0"/>
              </a:tabLst>
            </a:pPr>
            <a:r>
              <a:rPr b="0" lang="de-DE" sz="1050" spc="-1" strike="noStrike">
                <a:solidFill>
                  <a:srgbClr val="808080"/>
                </a:solidFill>
                <a:latin typeface="HTWBerlin Office"/>
                <a:ea typeface="DejaVu Sans"/>
              </a:rPr>
              <a:t> </a:t>
            </a:r>
            <a:r>
              <a:rPr b="0" lang="de-DE" sz="1050" spc="-1" strike="noStrike">
                <a:solidFill>
                  <a:srgbClr val="808080"/>
                </a:solidFill>
                <a:latin typeface="HTWBerlin Office"/>
                <a:ea typeface="DejaVu Sans"/>
              </a:rPr>
              <a:t>Dipol-Antenne für verschidene Freqenunzen  </a:t>
            </a:r>
            <a:br/>
            <a:r>
              <a:rPr b="0" lang="de-DE" sz="800" spc="-1" strike="noStrike">
                <a:solidFill>
                  <a:srgbClr val="808080"/>
                </a:solidFill>
                <a:latin typeface="HTWBerlin Office"/>
                <a:ea typeface="DejaVu Sans"/>
              </a:rPr>
              <a:t>https://shopdelta.eu/shop_image/product/atk-log_5-12_21-60.jpg [Zugriff am 08 Februrar 2023].</a:t>
            </a:r>
            <a:endParaRPr b="0" lang="de-DE" sz="800" spc="-1" strike="noStrike">
              <a:latin typeface="Arial"/>
            </a:endParaRPr>
          </a:p>
        </p:txBody>
      </p:sp>
      <p:pic>
        <p:nvPicPr>
          <p:cNvPr id="307" name="" descr=""/>
          <p:cNvPicPr/>
          <p:nvPr/>
        </p:nvPicPr>
        <p:blipFill>
          <a:blip r:embed="rId1"/>
          <a:stretch/>
        </p:blipFill>
        <p:spPr>
          <a:xfrm>
            <a:off x="296640" y="975960"/>
            <a:ext cx="4203360" cy="2444040"/>
          </a:xfrm>
          <a:prstGeom prst="rect">
            <a:avLst/>
          </a:prstGeom>
          <a:ln w="0">
            <a:noFill/>
          </a:ln>
        </p:spPr>
      </p:pic>
      <p:pic>
        <p:nvPicPr>
          <p:cNvPr id="308" name="" descr=""/>
          <p:cNvPicPr/>
          <p:nvPr/>
        </p:nvPicPr>
        <p:blipFill>
          <a:blip r:embed="rId2"/>
          <a:stretch/>
        </p:blipFill>
        <p:spPr>
          <a:xfrm>
            <a:off x="4140000" y="860040"/>
            <a:ext cx="4564800" cy="255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CustomShape 1"/>
          <p:cNvSpPr/>
          <p:nvPr/>
        </p:nvSpPr>
        <p:spPr>
          <a:xfrm>
            <a:off x="539640" y="547560"/>
            <a:ext cx="7523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399"/>
              </a:lnSpc>
            </a:pPr>
            <a:r>
              <a:rPr b="1" lang="de-DE" sz="32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Software</a:t>
            </a:r>
            <a:endParaRPr b="0" lang="de-DE" sz="3200" spc="-1" strike="noStrike">
              <a:latin typeface="Arial"/>
            </a:endParaRPr>
          </a:p>
        </p:txBody>
      </p:sp>
      <p:sp>
        <p:nvSpPr>
          <p:cNvPr id="310" name="CustomShape 2"/>
          <p:cNvSpPr/>
          <p:nvPr/>
        </p:nvSpPr>
        <p:spPr>
          <a:xfrm>
            <a:off x="2450160" y="4687200"/>
            <a:ext cx="548388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0" lang="de-DE" sz="1000" spc="-1" strike="noStrike">
                <a:solidFill>
                  <a:srgbClr val="a6a6a6"/>
                </a:solidFill>
                <a:latin typeface="HTWBerlin Office"/>
                <a:ea typeface="DejaVu Sans"/>
              </a:rPr>
              <a:t>Software</a:t>
            </a:r>
            <a:endParaRPr b="0" lang="de-DE" sz="1000" spc="-1" strike="noStrike">
              <a:latin typeface="Arial"/>
            </a:endParaRPr>
          </a:p>
        </p:txBody>
      </p:sp>
      <p:sp>
        <p:nvSpPr>
          <p:cNvPr id="311" name="CustomShape 3"/>
          <p:cNvSpPr/>
          <p:nvPr/>
        </p:nvSpPr>
        <p:spPr>
          <a:xfrm>
            <a:off x="539640" y="4687200"/>
            <a:ext cx="17276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fld id="{DA98625F-51B2-4E32-A4AE-C411327FC902}" type="slidenum">
              <a:rPr b="1" lang="de-DE" sz="1000" spc="-1" strike="noStrike">
                <a:solidFill>
                  <a:srgbClr val="787878"/>
                </a:solidFill>
                <a:latin typeface="HTWBerlin Office"/>
                <a:ea typeface="DejaVu Sans"/>
              </a:rPr>
              <a:t>3</a:t>
            </a:fld>
            <a:endParaRPr b="0" lang="de-DE" sz="1000" spc="-1" strike="noStrike">
              <a:latin typeface="Arial"/>
            </a:endParaRPr>
          </a:p>
        </p:txBody>
      </p:sp>
      <p:sp>
        <p:nvSpPr>
          <p:cNvPr id="312" name="TextShape 4"/>
          <p:cNvSpPr txBox="1"/>
          <p:nvPr/>
        </p:nvSpPr>
        <p:spPr>
          <a:xfrm>
            <a:off x="623160" y="1620000"/>
            <a:ext cx="8016840" cy="137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Für Aufnahme würde jedes Soundaufnahmeprogramm gehen</a:t>
            </a:r>
            <a:endParaRPr b="0" lang="de-DE" sz="18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Besser spezielles Programm, damit Bandbreite änderbar oder Doppler-</a:t>
            </a:r>
            <a:br/>
            <a:r>
              <a:rPr b="0" lang="de-DE" sz="1800" spc="-1" strike="noStrike">
                <a:latin typeface="Arial"/>
              </a:rPr>
              <a:t>effekt entfernt werden kann.</a:t>
            </a:r>
            <a:endParaRPr b="0" lang="de-DE" sz="1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Audio Aufnahme Dekodieren mit wxtoimg → wurde extra für diese Aufgabe </a:t>
            </a:r>
            <a:br/>
            <a:r>
              <a:rPr b="0" lang="de-DE" sz="1800" spc="-1" strike="noStrike">
                <a:latin typeface="Arial"/>
              </a:rPr>
              <a:t>entwickelt </a:t>
            </a:r>
            <a:endParaRPr b="0" lang="de-DE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CustomShape 1"/>
          <p:cNvSpPr/>
          <p:nvPr/>
        </p:nvSpPr>
        <p:spPr>
          <a:xfrm>
            <a:off x="539640" y="566280"/>
            <a:ext cx="7523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CustomShape 2"/>
          <p:cNvSpPr/>
          <p:nvPr/>
        </p:nvSpPr>
        <p:spPr>
          <a:xfrm>
            <a:off x="2450160" y="4687200"/>
            <a:ext cx="548388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CustomShape 3"/>
          <p:cNvSpPr/>
          <p:nvPr/>
        </p:nvSpPr>
        <p:spPr>
          <a:xfrm>
            <a:off x="539640" y="4687200"/>
            <a:ext cx="17276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fld id="{B9233546-D8AB-4349-87BE-6CEAC25B8C18}" type="slidenum">
              <a:rPr b="1" lang="de-DE" sz="1000" spc="-1" strike="noStrike">
                <a:solidFill>
                  <a:srgbClr val="787878"/>
                </a:solidFill>
                <a:latin typeface="HTWBerlin Office"/>
                <a:ea typeface="DejaVu Sans"/>
              </a:rPr>
              <a:t>3</a:t>
            </a:fld>
            <a:endParaRPr b="0" lang="de-DE" sz="1000" spc="-1" strike="noStrike">
              <a:latin typeface="Arial"/>
            </a:endParaRPr>
          </a:p>
        </p:txBody>
      </p:sp>
      <p:pic>
        <p:nvPicPr>
          <p:cNvPr id="316" name="" descr=""/>
          <p:cNvPicPr/>
          <p:nvPr/>
        </p:nvPicPr>
        <p:blipFill>
          <a:blip r:embed="rId1"/>
          <a:stretch/>
        </p:blipFill>
        <p:spPr>
          <a:xfrm>
            <a:off x="1260000" y="360000"/>
            <a:ext cx="4860000" cy="4120560"/>
          </a:xfrm>
          <a:prstGeom prst="rect">
            <a:avLst/>
          </a:prstGeom>
          <a:ln w="0">
            <a:noFill/>
          </a:ln>
        </p:spPr>
      </p:pic>
      <p:sp>
        <p:nvSpPr>
          <p:cNvPr id="317" name="TextShape 4"/>
          <p:cNvSpPr txBox="1"/>
          <p:nvPr/>
        </p:nvSpPr>
        <p:spPr>
          <a:xfrm>
            <a:off x="6480000" y="2412720"/>
            <a:ext cx="2324520" cy="63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Aft>
                <a:spcPts val="550"/>
              </a:spcAft>
              <a:tabLst>
                <a:tab algn="l" pos="0"/>
              </a:tabLst>
            </a:pPr>
            <a:r>
              <a:rPr b="0" lang="de-DE" sz="1050" spc="-1" strike="noStrike">
                <a:solidFill>
                  <a:srgbClr val="808080"/>
                </a:solidFill>
                <a:latin typeface="HTWBerlin Office"/>
                <a:ea typeface="HTWBerlin Office"/>
              </a:rPr>
              <a:t>Typisches mit Wxtoimg erzeugtes Bild </a:t>
            </a:r>
            <a:r>
              <a:rPr b="0" lang="de-DE" sz="800" spc="-1" strike="noStrike">
                <a:solidFill>
                  <a:srgbClr val="808080"/>
                </a:solidFill>
                <a:latin typeface="HTWBerlin Office"/>
                <a:ea typeface="HTWBerlin Office"/>
              </a:rPr>
              <a:t>https://leshamilton.co.uk/guide/wxmg02s.jpg [Zugriff am 08 Februrar 2023].</a:t>
            </a:r>
            <a:endParaRPr b="0" lang="de-DE" sz="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CustomShape 1"/>
          <p:cNvSpPr/>
          <p:nvPr/>
        </p:nvSpPr>
        <p:spPr>
          <a:xfrm>
            <a:off x="539640" y="305280"/>
            <a:ext cx="7523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399"/>
              </a:lnSpc>
            </a:pPr>
            <a:r>
              <a:rPr b="1" lang="de-DE" sz="32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Versuchdurchführung</a:t>
            </a:r>
            <a:endParaRPr b="0" lang="de-DE" sz="3200" spc="-1" strike="noStrike">
              <a:latin typeface="Arial"/>
            </a:endParaRPr>
          </a:p>
        </p:txBody>
      </p:sp>
      <p:sp>
        <p:nvSpPr>
          <p:cNvPr id="319" name="CustomShape 2"/>
          <p:cNvSpPr/>
          <p:nvPr/>
        </p:nvSpPr>
        <p:spPr>
          <a:xfrm>
            <a:off x="2450160" y="4687200"/>
            <a:ext cx="548388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0" lang="de-DE" sz="1000" spc="-1" strike="noStrike">
                <a:solidFill>
                  <a:srgbClr val="a6a6a6"/>
                </a:solidFill>
                <a:latin typeface="HTWBerlin Office"/>
                <a:ea typeface="DejaVu Sans"/>
              </a:rPr>
              <a:t>Durchführung</a:t>
            </a:r>
            <a:endParaRPr b="0" lang="de-DE" sz="1000" spc="-1" strike="noStrike">
              <a:latin typeface="Arial"/>
            </a:endParaRPr>
          </a:p>
        </p:txBody>
      </p:sp>
      <p:sp>
        <p:nvSpPr>
          <p:cNvPr id="320" name="CustomShape 3"/>
          <p:cNvSpPr/>
          <p:nvPr/>
        </p:nvSpPr>
        <p:spPr>
          <a:xfrm>
            <a:off x="539640" y="4687200"/>
            <a:ext cx="17276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fld id="{81B9A298-39A2-483B-B0B8-FE2FAC32AEBA}" type="slidenum">
              <a:rPr b="1" lang="de-DE" sz="1000" spc="-1" strike="noStrike">
                <a:solidFill>
                  <a:srgbClr val="787878"/>
                </a:solidFill>
                <a:latin typeface="HTWBerlin Office"/>
                <a:ea typeface="DejaVu Sans"/>
              </a:rPr>
              <a:t>&lt;Foliennummer&gt;</a:t>
            </a:fld>
            <a:endParaRPr b="0" lang="de-DE" sz="1000" spc="-1" strike="noStrike">
              <a:latin typeface="Arial"/>
            </a:endParaRPr>
          </a:p>
        </p:txBody>
      </p:sp>
      <p:sp>
        <p:nvSpPr>
          <p:cNvPr id="321" name="TextShape 4"/>
          <p:cNvSpPr txBox="1"/>
          <p:nvPr/>
        </p:nvSpPr>
        <p:spPr>
          <a:xfrm>
            <a:off x="693360" y="900000"/>
            <a:ext cx="7705080" cy="290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buClr>
                <a:srgbClr val="000000"/>
              </a:buClr>
              <a:buFont typeface="StarSymbol"/>
              <a:buAutoNum type="romanUcPeriod"/>
            </a:pPr>
            <a:r>
              <a:rPr b="1" lang="de-DE" sz="1800" spc="-1" strike="noStrike">
                <a:latin typeface="Arial"/>
              </a:rPr>
              <a:t>Versuch mit Dipol</a:t>
            </a:r>
            <a:endParaRPr b="0" lang="de-DE" sz="18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Auf Freqeunz des NOAA-Sateliten einstellen</a:t>
            </a:r>
            <a:endParaRPr b="0" lang="de-DE" sz="18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Antenne über Coaxialkabel mit RTL-SDR-Stick verbinden</a:t>
            </a:r>
            <a:endParaRPr b="0" lang="de-DE" sz="18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1. Aufbau in Berliner Innenstadt </a:t>
            </a:r>
            <a:endParaRPr b="0" lang="de-DE" sz="18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Auf Überflug des Sateliten warten → Flugbahn der NOAA Stateliten </a:t>
            </a:r>
            <a:br/>
            <a:r>
              <a:rPr b="0" lang="de-DE" sz="1800" spc="-1" strike="noStrike">
                <a:latin typeface="Arial"/>
              </a:rPr>
              <a:t>ist im Programm einsehbar sowie die Sendefreqeunz</a:t>
            </a:r>
            <a:endParaRPr b="0" lang="de-DE" sz="18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Signal aufnehmen und mit Wxtoimg dekodieren</a:t>
            </a:r>
            <a:endParaRPr b="0" lang="de-DE" sz="18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1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StarSymbol"/>
              <a:buAutoNum type="romanUcPeriod"/>
            </a:pPr>
            <a:r>
              <a:rPr b="1" lang="de-DE" sz="1800" spc="-1" strike="noStrike">
                <a:latin typeface="Arial"/>
              </a:rPr>
              <a:t>Versuch mit QFH-Antenne</a:t>
            </a:r>
            <a:endParaRPr b="0" lang="de-DE" sz="18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Selber Aufbau, nur weiter außerhalb von Berlin um Empfang eines</a:t>
            </a:r>
            <a:br/>
            <a:r>
              <a:rPr b="0" lang="de-DE" sz="1800" spc="-1" strike="noStrike">
                <a:latin typeface="Arial"/>
              </a:rPr>
              <a:t>sauberen Signals zu verbessern</a:t>
            </a:r>
            <a:endParaRPr b="0" lang="de-DE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CustomShape 1"/>
          <p:cNvSpPr/>
          <p:nvPr/>
        </p:nvSpPr>
        <p:spPr>
          <a:xfrm>
            <a:off x="539640" y="305280"/>
            <a:ext cx="7523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CustomShape 2"/>
          <p:cNvSpPr/>
          <p:nvPr/>
        </p:nvSpPr>
        <p:spPr>
          <a:xfrm>
            <a:off x="2450160" y="4687200"/>
            <a:ext cx="548388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CustomShape 3"/>
          <p:cNvSpPr/>
          <p:nvPr/>
        </p:nvSpPr>
        <p:spPr>
          <a:xfrm>
            <a:off x="539640" y="4687200"/>
            <a:ext cx="17276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fld id="{740C06FB-775F-4033-BCF2-2CAFBC85B2EC}" type="slidenum">
              <a:rPr b="1" lang="de-DE" sz="1000" spc="-1" strike="noStrike">
                <a:solidFill>
                  <a:srgbClr val="787878"/>
                </a:solidFill>
                <a:latin typeface="HTWBerlin Office"/>
                <a:ea typeface="DejaVu Sans"/>
              </a:rPr>
              <a:t>&lt;Foliennummer&gt;</a:t>
            </a:fld>
            <a:endParaRPr b="0" lang="de-DE" sz="1000" spc="-1" strike="noStrike">
              <a:latin typeface="Arial"/>
            </a:endParaRPr>
          </a:p>
        </p:txBody>
      </p:sp>
      <p:pic>
        <p:nvPicPr>
          <p:cNvPr id="325" name="" descr=""/>
          <p:cNvPicPr/>
          <p:nvPr/>
        </p:nvPicPr>
        <p:blipFill>
          <a:blip r:embed="rId1"/>
          <a:stretch/>
        </p:blipFill>
        <p:spPr>
          <a:xfrm>
            <a:off x="1980000" y="422280"/>
            <a:ext cx="4860000" cy="401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539640" y="305280"/>
            <a:ext cx="7523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399"/>
              </a:lnSpc>
            </a:pPr>
            <a:r>
              <a:rPr b="1" lang="de-DE" sz="32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Auswertung</a:t>
            </a:r>
            <a:endParaRPr b="0" lang="de-DE" sz="3200" spc="-1" strike="noStrike">
              <a:latin typeface="Arial"/>
            </a:endParaRPr>
          </a:p>
        </p:txBody>
      </p:sp>
      <p:sp>
        <p:nvSpPr>
          <p:cNvPr id="327" name="CustomShape 2"/>
          <p:cNvSpPr/>
          <p:nvPr/>
        </p:nvSpPr>
        <p:spPr>
          <a:xfrm>
            <a:off x="2450160" y="4687200"/>
            <a:ext cx="548388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0" lang="de-DE" sz="1000" spc="-1" strike="noStrike">
                <a:solidFill>
                  <a:srgbClr val="a6a6a6"/>
                </a:solidFill>
                <a:latin typeface="HTWBerlin Office"/>
                <a:ea typeface="DejaVu Sans"/>
              </a:rPr>
              <a:t>Auswertung &amp; Fazit</a:t>
            </a:r>
            <a:endParaRPr b="0" lang="de-DE" sz="1000" spc="-1" strike="noStrike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539640" y="4687200"/>
            <a:ext cx="17276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fld id="{2B93A252-EDEB-4327-8322-8856E84F3E11}" type="slidenum">
              <a:rPr b="1" lang="de-DE" sz="1000" spc="-1" strike="noStrike">
                <a:solidFill>
                  <a:srgbClr val="787878"/>
                </a:solidFill>
                <a:latin typeface="HTWBerlin Office"/>
                <a:ea typeface="DejaVu Sans"/>
              </a:rPr>
              <a:t>&lt;Foliennummer&gt;</a:t>
            </a:fld>
            <a:endParaRPr b="0" lang="de-DE" sz="1000" spc="-1" strike="noStrike">
              <a:latin typeface="Arial"/>
            </a:endParaRPr>
          </a:p>
        </p:txBody>
      </p:sp>
      <p:sp>
        <p:nvSpPr>
          <p:cNvPr id="329" name="TextShape 4"/>
          <p:cNvSpPr txBox="1"/>
          <p:nvPr/>
        </p:nvSpPr>
        <p:spPr>
          <a:xfrm>
            <a:off x="693360" y="900000"/>
            <a:ext cx="8183520" cy="316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buClr>
                <a:srgbClr val="000000"/>
              </a:buClr>
              <a:buFont typeface="StarSymbol"/>
              <a:buAutoNum type="romanUcPeriod"/>
            </a:pPr>
            <a:r>
              <a:rPr b="1" lang="de-DE" sz="1800" spc="-1" strike="noStrike">
                <a:latin typeface="Arial"/>
              </a:rPr>
              <a:t>Versuch mit Dipol</a:t>
            </a:r>
            <a:endParaRPr b="0" lang="de-DE" sz="18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Kein Signal empfangen → Signal zu sehr blokiert von Gebäuden</a:t>
            </a:r>
            <a:endParaRPr b="0" lang="de-DE" sz="18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Dipol auf Grund seiner Aufbaus nicht geeignet → Verbesserung durch</a:t>
            </a:r>
            <a:br/>
            <a:r>
              <a:rPr b="0" lang="de-DE" sz="1800" spc="-1" strike="noStrike">
                <a:latin typeface="Arial"/>
              </a:rPr>
              <a:t>Kreuzdipol möglich</a:t>
            </a:r>
            <a:endParaRPr b="0" lang="de-DE" sz="18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1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StarSymbol"/>
              <a:buAutoNum type="romanUcPeriod"/>
            </a:pPr>
            <a:r>
              <a:rPr b="1" lang="de-DE" sz="1800" spc="-1" strike="noStrike">
                <a:latin typeface="Arial"/>
              </a:rPr>
              <a:t>Versuch mit QFH-Antenne</a:t>
            </a:r>
            <a:endParaRPr b="0" lang="de-DE" sz="18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Signal empfangen → deutlich hörbar aber mit starkem rauschen</a:t>
            </a:r>
            <a:endParaRPr b="0" lang="de-DE" sz="18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Gut geeignet für den Empfang → Sateliten drehen sich zur Stabilisierung</a:t>
            </a:r>
            <a:br/>
            <a:r>
              <a:rPr b="0" lang="de-DE" sz="1800" spc="-1" strike="noStrike">
                <a:latin typeface="Arial"/>
              </a:rPr>
              <a:t>dadurch umpolung des Signales → wird durch Drehung der Drähte</a:t>
            </a:r>
            <a:br/>
            <a:r>
              <a:rPr b="0" lang="de-DE" sz="1800" spc="-1" strike="noStrike">
                <a:latin typeface="Arial"/>
              </a:rPr>
              <a:t>kompensiert</a:t>
            </a:r>
            <a:endParaRPr b="0" lang="de-DE" sz="18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Dekodierung scheitert auch nach viel Nachbearbeitung, da Telemetrie</a:t>
            </a:r>
            <a:br/>
            <a:r>
              <a:rPr b="0" lang="de-DE" sz="1800" spc="-1" strike="noStrike">
                <a:latin typeface="Arial"/>
              </a:rPr>
              <a:t>Daten nicht korrekt übertragen wurden</a:t>
            </a:r>
            <a:endParaRPr b="0" lang="de-DE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CustomShape 1"/>
          <p:cNvSpPr/>
          <p:nvPr/>
        </p:nvSpPr>
        <p:spPr>
          <a:xfrm>
            <a:off x="539640" y="305280"/>
            <a:ext cx="7523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399"/>
              </a:lnSpc>
            </a:pPr>
            <a:r>
              <a:rPr b="1" lang="de-DE" sz="32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Fazit </a:t>
            </a:r>
            <a:endParaRPr b="0" lang="de-DE" sz="3200" spc="-1" strike="noStrike">
              <a:latin typeface="Arial"/>
            </a:endParaRPr>
          </a:p>
        </p:txBody>
      </p:sp>
      <p:sp>
        <p:nvSpPr>
          <p:cNvPr id="331" name="CustomShape 2"/>
          <p:cNvSpPr/>
          <p:nvPr/>
        </p:nvSpPr>
        <p:spPr>
          <a:xfrm>
            <a:off x="2450160" y="4687200"/>
            <a:ext cx="548388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0" lang="de-DE" sz="1000" spc="-1" strike="noStrike">
                <a:solidFill>
                  <a:srgbClr val="a6a6a6"/>
                </a:solidFill>
                <a:latin typeface="HTWBerlin Office"/>
                <a:ea typeface="DejaVu Sans"/>
              </a:rPr>
              <a:t>Auswertung &amp; Fazit</a:t>
            </a:r>
            <a:endParaRPr b="0" lang="de-DE" sz="1000" spc="-1" strike="noStrike">
              <a:latin typeface="Arial"/>
            </a:endParaRPr>
          </a:p>
        </p:txBody>
      </p:sp>
      <p:sp>
        <p:nvSpPr>
          <p:cNvPr id="332" name="CustomShape 3"/>
          <p:cNvSpPr/>
          <p:nvPr/>
        </p:nvSpPr>
        <p:spPr>
          <a:xfrm>
            <a:off x="539640" y="4687200"/>
            <a:ext cx="17276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fld id="{C9198D53-C2E1-40AE-B11B-C479E3F0FF1C}" type="slidenum">
              <a:rPr b="1" lang="de-DE" sz="1000" spc="-1" strike="noStrike">
                <a:solidFill>
                  <a:srgbClr val="787878"/>
                </a:solidFill>
                <a:latin typeface="HTWBerlin Office"/>
                <a:ea typeface="DejaVu Sans"/>
              </a:rPr>
              <a:t>&lt;Foliennummer&gt;</a:t>
            </a:fld>
            <a:endParaRPr b="0" lang="de-DE" sz="1000" spc="-1" strike="noStrike">
              <a:latin typeface="Arial"/>
            </a:endParaRPr>
          </a:p>
        </p:txBody>
      </p:sp>
      <p:sp>
        <p:nvSpPr>
          <p:cNvPr id="333" name="TextShape 4"/>
          <p:cNvSpPr txBox="1"/>
          <p:nvPr/>
        </p:nvSpPr>
        <p:spPr>
          <a:xfrm>
            <a:off x="693360" y="900000"/>
            <a:ext cx="7432920" cy="188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Grundsätzlich möglich → für Laien nicht</a:t>
            </a:r>
            <a:endParaRPr b="0" lang="de-DE" sz="1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der richtigen Antenne und die Verbesserung der Signalaufnahme-</a:t>
            </a:r>
            <a:br/>
            <a:r>
              <a:rPr b="0" lang="de-DE" sz="1800" spc="-1" strike="noStrike">
                <a:latin typeface="Arial"/>
              </a:rPr>
              <a:t>bedingungen entscheidend</a:t>
            </a:r>
            <a:endParaRPr b="0" lang="de-DE" sz="1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Versuch setzt grundlegendes Wissen in Analog-, Elektrotechnik sowie</a:t>
            </a:r>
            <a:br/>
            <a:r>
              <a:rPr b="0" lang="de-DE" sz="1800" spc="-1" strike="noStrike">
                <a:latin typeface="Arial"/>
              </a:rPr>
              <a:t>Signalverarbeitung voraus</a:t>
            </a:r>
            <a:endParaRPr b="0" lang="de-DE" sz="1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latin typeface="Arial"/>
              </a:rPr>
              <a:t>In den meisten Fällen lohnt sich es mehr auf professionelle Dienste</a:t>
            </a:r>
            <a:br/>
            <a:r>
              <a:rPr b="0" lang="de-DE" sz="1800" spc="-1" strike="noStrike">
                <a:latin typeface="Arial"/>
              </a:rPr>
              <a:t>zurückzugreifen</a:t>
            </a:r>
            <a:endParaRPr b="0" lang="de-DE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Bildplatzhalter 5" descr=""/>
          <p:cNvPicPr/>
          <p:nvPr/>
        </p:nvPicPr>
        <p:blipFill>
          <a:blip r:embed="rId1">
            <a:alphaModFix amt="61000"/>
          </a:blip>
          <a:stretch/>
        </p:blipFill>
        <p:spPr>
          <a:xfrm>
            <a:off x="0" y="-2160"/>
            <a:ext cx="9142920" cy="2572920"/>
          </a:xfrm>
          <a:prstGeom prst="rect">
            <a:avLst/>
          </a:prstGeom>
          <a:ln w="0">
            <a:noFill/>
          </a:ln>
        </p:spPr>
      </p:pic>
      <p:sp>
        <p:nvSpPr>
          <p:cNvPr id="335" name="CustomShape 1"/>
          <p:cNvSpPr/>
          <p:nvPr/>
        </p:nvSpPr>
        <p:spPr>
          <a:xfrm>
            <a:off x="0" y="-2160"/>
            <a:ext cx="9142920" cy="2572920"/>
          </a:xfrm>
          <a:prstGeom prst="rect">
            <a:avLst/>
          </a:pr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6" name="CustomShape 2"/>
          <p:cNvSpPr/>
          <p:nvPr/>
        </p:nvSpPr>
        <p:spPr>
          <a:xfrm>
            <a:off x="539640" y="1011240"/>
            <a:ext cx="4390920" cy="8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399"/>
              </a:lnSpc>
            </a:pPr>
            <a:r>
              <a:rPr b="1" lang="de-DE" sz="3200" spc="-1" strike="noStrike">
                <a:solidFill>
                  <a:srgbClr val="ffffff"/>
                </a:solidFill>
                <a:latin typeface="HTWBerlin Office"/>
                <a:ea typeface="DejaVu Sans"/>
              </a:rPr>
              <a:t>Vielen Dank.</a:t>
            </a:r>
            <a:endParaRPr b="0" lang="de-DE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CustomShape 1"/>
          <p:cNvSpPr/>
          <p:nvPr/>
        </p:nvSpPr>
        <p:spPr>
          <a:xfrm>
            <a:off x="539640" y="305280"/>
            <a:ext cx="7523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399"/>
              </a:lnSpc>
            </a:pPr>
            <a:r>
              <a:rPr b="1" lang="de-DE" sz="32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Quellen</a:t>
            </a:r>
            <a:endParaRPr b="0" lang="de-DE" sz="3200" spc="-1" strike="noStrike">
              <a:latin typeface="Arial"/>
            </a:endParaRPr>
          </a:p>
        </p:txBody>
      </p:sp>
      <p:sp>
        <p:nvSpPr>
          <p:cNvPr id="338" name="CustomShape 2"/>
          <p:cNvSpPr/>
          <p:nvPr/>
        </p:nvSpPr>
        <p:spPr>
          <a:xfrm>
            <a:off x="2450160" y="4687200"/>
            <a:ext cx="548388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0" lang="de-DE" sz="1000" spc="-1" strike="noStrike">
                <a:solidFill>
                  <a:srgbClr val="a6a6a6"/>
                </a:solidFill>
                <a:latin typeface="HTWBerlin Office"/>
                <a:ea typeface="DejaVu Sans"/>
              </a:rPr>
              <a:t>Quellen</a:t>
            </a:r>
            <a:endParaRPr b="0" lang="de-DE" sz="1000" spc="-1" strike="noStrike">
              <a:latin typeface="Arial"/>
            </a:endParaRPr>
          </a:p>
        </p:txBody>
      </p:sp>
      <p:sp>
        <p:nvSpPr>
          <p:cNvPr id="339" name="CustomShape 3"/>
          <p:cNvSpPr/>
          <p:nvPr/>
        </p:nvSpPr>
        <p:spPr>
          <a:xfrm>
            <a:off x="539640" y="4687200"/>
            <a:ext cx="17276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fld id="{224E149D-51D6-4634-BAF8-CBF8665BE9A4}" type="slidenum">
              <a:rPr b="1" lang="de-DE" sz="1000" spc="-1" strike="noStrike">
                <a:solidFill>
                  <a:srgbClr val="787878"/>
                </a:solidFill>
                <a:latin typeface="HTWBerlin Office"/>
                <a:ea typeface="DejaVu Sans"/>
              </a:rPr>
              <a:t>&lt;Foliennummer&gt;</a:t>
            </a:fld>
            <a:endParaRPr b="0" lang="de-DE" sz="1000" spc="-1" strike="noStrike">
              <a:latin typeface="Arial"/>
            </a:endParaRPr>
          </a:p>
        </p:txBody>
      </p:sp>
      <p:sp>
        <p:nvSpPr>
          <p:cNvPr id="340" name="TextShape 4"/>
          <p:cNvSpPr txBox="1"/>
          <p:nvPr/>
        </p:nvSpPr>
        <p:spPr>
          <a:xfrm>
            <a:off x="693360" y="900000"/>
            <a:ext cx="7885800" cy="285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300" spc="-1" strike="noStrike">
                <a:latin typeface="Arial"/>
              </a:rPr>
              <a:t>Wireless Communications and Networking, Elsevier, 2007.</a:t>
            </a:r>
            <a:endParaRPr b="0" lang="de-DE" sz="13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300" spc="-1" strike="noStrike">
                <a:latin typeface="Arial"/>
              </a:rPr>
              <a:t>Lakshan, “What is sdr and what can you do with sdr?,” https://www.seeedstudio.com/blog/2020/05/25/</a:t>
            </a:r>
            <a:br/>
            <a:r>
              <a:rPr b="0" lang="de-DE" sz="1300" spc="-1" strike="noStrike">
                <a:latin typeface="Arial"/>
              </a:rPr>
              <a:t>what-is-sdr-and-what-can-you-do-with-sdr/, Accessed: 06.12.2022.</a:t>
            </a:r>
            <a:endParaRPr b="0" lang="de-DE" sz="13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300" spc="-1" strike="noStrike">
                <a:latin typeface="Arial"/>
              </a:rPr>
              <a:t>“</a:t>
            </a:r>
            <a:r>
              <a:rPr b="0" lang="de-DE" sz="1300" spc="-1" strike="noStrike">
                <a:latin typeface="Arial"/>
              </a:rPr>
              <a:t>About rtl-sdr,” https://www.rtl-sdr.com/about-rtl-sdr/, Accessed: 03.11.2022.</a:t>
            </a:r>
            <a:endParaRPr b="0" lang="de-DE" sz="13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300" spc="-1" strike="noStrike">
                <a:latin typeface="Arial"/>
              </a:rPr>
              <a:t>Realtek, “Rtl2832u,” https://www.realtek.com/en/products/communications-network-ics/item/rtl2832u, </a:t>
            </a:r>
            <a:br/>
            <a:r>
              <a:rPr b="0" lang="de-DE" sz="1300" spc="-1" strike="noStrike">
                <a:latin typeface="Arial"/>
              </a:rPr>
              <a:t>Accessed: 03.11.2022.</a:t>
            </a:r>
            <a:endParaRPr b="0" lang="de-DE" sz="13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300" spc="-1" strike="noStrike">
                <a:latin typeface="Arial"/>
              </a:rPr>
              <a:t>NOAA, “Noaa-18 operational status,” https://www.ospo.noaa.gov/Operations/POES/NOAA18, </a:t>
            </a:r>
            <a:endParaRPr b="0" lang="de-DE" sz="13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300" spc="-1" strike="noStrike">
                <a:latin typeface="Arial"/>
              </a:rPr>
              <a:t>Accessed: 30.11.2022.</a:t>
            </a:r>
            <a:endParaRPr b="0" lang="de-DE" sz="13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300" spc="-1" strike="noStrike">
                <a:latin typeface="Arial"/>
              </a:rPr>
              <a:t>Elektronik-Kompendium.de, “Dipol,” https://www.elektronik-kompendium.de/sites/kom/0810171.htm, </a:t>
            </a:r>
            <a:br/>
            <a:r>
              <a:rPr b="0" lang="de-DE" sz="1300" spc="-1" strike="noStrike">
                <a:latin typeface="Arial"/>
              </a:rPr>
              <a:t>Accessed: 06.12.2022.</a:t>
            </a:r>
            <a:endParaRPr b="0" lang="de-DE" sz="13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300" spc="-1" strike="noStrike">
                <a:latin typeface="Arial"/>
              </a:rPr>
              <a:t>airspy.com, “Sdrsharp,” https://airspy.com/, Accessed: 06.12.2022.</a:t>
            </a:r>
            <a:endParaRPr b="0" lang="de-DE" sz="13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300" spc="-1" strike="noStrike">
                <a:latin typeface="Arial"/>
              </a:rPr>
              <a:t>SDR-Radio.com Ltd., “Sdr console,” https://www.sdr-radio.com/console, Accessed: 06.12.2022.</a:t>
            </a:r>
            <a:endParaRPr b="0" lang="de-DE" sz="13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300" spc="-1" strike="noStrike">
                <a:latin typeface="Arial"/>
              </a:rPr>
              <a:t>https://www.instructables.com/member/spacemanlabs/,“Qfh instruction,” https://www.instructables.com/</a:t>
            </a:r>
            <a:br/>
            <a:r>
              <a:rPr b="0" lang="de-DE" sz="1300" spc="-1" strike="noStrike">
                <a:latin typeface="Arial"/>
              </a:rPr>
              <a:t>NOAA-Satellite-Signals-with-a-PVC-QFH-Antenna-and-/, Accessed: 02.12.2022.</a:t>
            </a:r>
            <a:endParaRPr b="0" lang="de-DE" sz="13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300" spc="-1" strike="noStrike">
                <a:latin typeface="Arial"/>
              </a:rPr>
              <a:t>John Coppens, “Qfh design,” http://jcoppens.com/ant/qfh/index.en.php, Accessed: 02.12.2022.</a:t>
            </a:r>
            <a:endParaRPr b="0" lang="de-DE" sz="13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CustomShape 1"/>
          <p:cNvSpPr/>
          <p:nvPr/>
        </p:nvSpPr>
        <p:spPr>
          <a:xfrm>
            <a:off x="3751920" y="3691440"/>
            <a:ext cx="36709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00"/>
              </a:lnSpc>
            </a:pPr>
            <a:r>
              <a:rPr b="0" lang="de-DE" sz="1800" spc="-1" strike="noStrike">
                <a:solidFill>
                  <a:srgbClr val="000000"/>
                </a:solidFill>
                <a:latin typeface="HTWBerlin Office"/>
                <a:ea typeface="DejaVu Sans"/>
              </a:rPr>
              <a:t>www.htw-berlin.de</a:t>
            </a:r>
            <a:endParaRPr b="0" lang="de-DE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04040"/>
      </a:dk2>
      <a:lt2>
        <a:srgbClr val="e3f1cc"/>
      </a:lt2>
      <a:accent1>
        <a:srgbClr val="76b900"/>
      </a:accent1>
      <a:accent2>
        <a:srgbClr val="588b00"/>
      </a:accent2>
      <a:accent3>
        <a:srgbClr val="355300"/>
      </a:accent3>
      <a:accent4>
        <a:srgbClr val="243800"/>
      </a:accent4>
      <a:accent5>
        <a:srgbClr val="0082d1"/>
      </a:accent5>
      <a:accent6>
        <a:srgbClr val="ff5f00"/>
      </a:accent6>
      <a:hlink>
        <a:srgbClr val="000000"/>
      </a:hlink>
      <a:folHlink>
        <a:srgbClr val="2438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04040"/>
      </a:dk2>
      <a:lt2>
        <a:srgbClr val="e3f1cc"/>
      </a:lt2>
      <a:accent1>
        <a:srgbClr val="76b900"/>
      </a:accent1>
      <a:accent2>
        <a:srgbClr val="588b00"/>
      </a:accent2>
      <a:accent3>
        <a:srgbClr val="355300"/>
      </a:accent3>
      <a:accent4>
        <a:srgbClr val="243800"/>
      </a:accent4>
      <a:accent5>
        <a:srgbClr val="0082d1"/>
      </a:accent5>
      <a:accent6>
        <a:srgbClr val="ff5f00"/>
      </a:accent6>
      <a:hlink>
        <a:srgbClr val="000000"/>
      </a:hlink>
      <a:folHlink>
        <a:srgbClr val="2438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04040"/>
      </a:dk2>
      <a:lt2>
        <a:srgbClr val="e3f1cc"/>
      </a:lt2>
      <a:accent1>
        <a:srgbClr val="76b900"/>
      </a:accent1>
      <a:accent2>
        <a:srgbClr val="588b00"/>
      </a:accent2>
      <a:accent3>
        <a:srgbClr val="355300"/>
      </a:accent3>
      <a:accent4>
        <a:srgbClr val="243800"/>
      </a:accent4>
      <a:accent5>
        <a:srgbClr val="0082d1"/>
      </a:accent5>
      <a:accent6>
        <a:srgbClr val="ff5f00"/>
      </a:accent6>
      <a:hlink>
        <a:srgbClr val="000000"/>
      </a:hlink>
      <a:folHlink>
        <a:srgbClr val="2438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04040"/>
      </a:dk2>
      <a:lt2>
        <a:srgbClr val="e3f1cc"/>
      </a:lt2>
      <a:accent1>
        <a:srgbClr val="76b900"/>
      </a:accent1>
      <a:accent2>
        <a:srgbClr val="588b00"/>
      </a:accent2>
      <a:accent3>
        <a:srgbClr val="355300"/>
      </a:accent3>
      <a:accent4>
        <a:srgbClr val="243800"/>
      </a:accent4>
      <a:accent5>
        <a:srgbClr val="0082d1"/>
      </a:accent5>
      <a:accent6>
        <a:srgbClr val="ff5f00"/>
      </a:accent6>
      <a:hlink>
        <a:srgbClr val="000000"/>
      </a:hlink>
      <a:folHlink>
        <a:srgbClr val="2438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04040"/>
      </a:dk2>
      <a:lt2>
        <a:srgbClr val="e3f1cc"/>
      </a:lt2>
      <a:accent1>
        <a:srgbClr val="76b900"/>
      </a:accent1>
      <a:accent2>
        <a:srgbClr val="588b00"/>
      </a:accent2>
      <a:accent3>
        <a:srgbClr val="355300"/>
      </a:accent3>
      <a:accent4>
        <a:srgbClr val="243800"/>
      </a:accent4>
      <a:accent5>
        <a:srgbClr val="0082d1"/>
      </a:accent5>
      <a:accent6>
        <a:srgbClr val="ff5f00"/>
      </a:accent6>
      <a:hlink>
        <a:srgbClr val="000000"/>
      </a:hlink>
      <a:folHlink>
        <a:srgbClr val="2438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04040"/>
      </a:dk2>
      <a:lt2>
        <a:srgbClr val="e3f1cc"/>
      </a:lt2>
      <a:accent1>
        <a:srgbClr val="76b900"/>
      </a:accent1>
      <a:accent2>
        <a:srgbClr val="588b00"/>
      </a:accent2>
      <a:accent3>
        <a:srgbClr val="355300"/>
      </a:accent3>
      <a:accent4>
        <a:srgbClr val="243800"/>
      </a:accent4>
      <a:accent5>
        <a:srgbClr val="0082d1"/>
      </a:accent5>
      <a:accent6>
        <a:srgbClr val="ff5f00"/>
      </a:accent6>
      <a:hlink>
        <a:srgbClr val="000000"/>
      </a:hlink>
      <a:folHlink>
        <a:srgbClr val="2438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04040"/>
      </a:dk2>
      <a:lt2>
        <a:srgbClr val="e3f1cc"/>
      </a:lt2>
      <a:accent1>
        <a:srgbClr val="76b900"/>
      </a:accent1>
      <a:accent2>
        <a:srgbClr val="588b00"/>
      </a:accent2>
      <a:accent3>
        <a:srgbClr val="355300"/>
      </a:accent3>
      <a:accent4>
        <a:srgbClr val="243800"/>
      </a:accent4>
      <a:accent5>
        <a:srgbClr val="0082d1"/>
      </a:accent5>
      <a:accent6>
        <a:srgbClr val="ff5f00"/>
      </a:accent6>
      <a:hlink>
        <a:srgbClr val="000000"/>
      </a:hlink>
      <a:folHlink>
        <a:srgbClr val="2438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Application>LibreOffice/7.0.4.2$Linux_AARCH64 LibreOffice_project/00$Build-2</Application>
  <AppVersion>15.0000</AppVersion>
  <Words>496</Words>
  <Paragraphs>92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2020-04-29T09:21:43Z</dcterms:created>
  <dc:creator>HTW Berlin | Kommunikation</dc:creator>
  <dc:description/>
  <dc:language>de-DE</dc:language>
  <cp:lastModifiedBy/>
  <cp:lastPrinted>2020-05-04T10:23:07Z</cp:lastPrinted>
  <dcterms:modified xsi:type="dcterms:W3CDTF">2023-02-08T18:36:58Z</dcterms:modified>
  <cp:revision>212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Bildschirmpräsentation (16:9)</vt:lpwstr>
  </property>
  <property fmtid="{D5CDD505-2E9C-101B-9397-08002B2CF9AE}" pid="3" name="Slides">
    <vt:i4>10</vt:i4>
  </property>
</Properties>
</file>